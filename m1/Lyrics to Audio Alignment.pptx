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0b68ffb60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0b68ffb60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0b68ffb6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0b68ffb6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0b68ffb60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0b68ffb60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d27b340d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d27b340d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afx25.dii.univpm.it/wp-content/uploads/2025/09/DAFx25_paper_15.pdf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scribd.com/document/879966907/Hybrid-Transformers-for-Music-Source-Separation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Lyrics to Audio Alignment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813075" y="2856550"/>
            <a:ext cx="8520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Hasan Khadra, Dimitriu Andrada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What it is</a:t>
            </a:r>
            <a:endParaRPr b="1"/>
          </a:p>
        </p:txBody>
      </p:sp>
      <p:pic>
        <p:nvPicPr>
          <p:cNvPr id="61" name="Google Shape;61;p14" title="giphy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750" y="2150450"/>
            <a:ext cx="6296526" cy="25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636375" y="1017725"/>
            <a:ext cx="6381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Task: </a:t>
            </a:r>
            <a:r>
              <a:rPr b="0" i="0" lang="en-GB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Given a song’s audio and its lyrics, assign a precise timestamp to each word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Applications: </a:t>
            </a: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Karaoke / lyrics sync  •  Spotify word-by-word highlight  •  Accessibility subtitles  •  Music education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Input and Output</a:t>
            </a:r>
            <a:endParaRPr b="1"/>
          </a:p>
        </p:txBody>
      </p:sp>
      <p:pic>
        <p:nvPicPr>
          <p:cNvPr id="68" name="Google Shape;68;p15" title="Screenshot 2026-03-04 at 18.07.0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39200" cy="3709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Open Datasets</a:t>
            </a:r>
            <a:endParaRPr b="1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607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Dali</a:t>
            </a:r>
            <a:endParaRPr b="1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O</a:t>
            </a:r>
            <a:r>
              <a:rPr lang="en-GB" sz="1600">
                <a:highlight>
                  <a:srgbClr val="FFFFFF"/>
                </a:highlight>
              </a:rPr>
              <a:t>ver 5000 songs 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Semi-automatically aligned lyrics annotations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Songs - commercial recordings in full-duration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Lyrics are described according to different levels of granularity including words and notes (and syllables underlying a given note).</a:t>
            </a:r>
            <a:endParaRPr sz="1600">
              <a:highlight>
                <a:srgbClr val="FFFFFF"/>
              </a:highlight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803600" y="1152475"/>
            <a:ext cx="3521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Damp</a:t>
            </a:r>
            <a:endParaRPr b="1"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300 songs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34000+ of a cappella recordings from a wide variety of amateur singers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No lyrics boundary annotations are available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curated subset DAMPB of 20 performances of each song</a:t>
            </a:r>
            <a:endParaRPr sz="95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635500" cy="10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920" u="sng">
                <a:solidFill>
                  <a:schemeClr val="hlink"/>
                </a:solidFill>
                <a:hlinkClick r:id="rId3"/>
              </a:rPr>
              <a:t>Improving Lyrics-to-Audio Alignment Using Frame-Wise Phoneme Labels With Masked Cross Entropy Loss, 2025</a:t>
            </a:r>
            <a:endParaRPr sz="1920"/>
          </a:p>
        </p:txBody>
      </p:sp>
      <p:pic>
        <p:nvPicPr>
          <p:cNvPr id="81" name="Google Shape;81;p17" title="Screenshot 2026-03-16 at 16.32.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800" y="2280525"/>
            <a:ext cx="3073924" cy="252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Screenshot 2026-03-16 at 16.31.4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200" y="1244181"/>
            <a:ext cx="3719500" cy="85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 2026-03-17 at 22.59.3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3442575"/>
            <a:ext cx="4305675" cy="120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572000" y="1377050"/>
            <a:ext cx="3975000" cy="15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-GB" sz="1100">
                <a:solidFill>
                  <a:schemeClr val="dk2"/>
                </a:solidFill>
              </a:rPr>
              <a:t>HT Demucs - </a:t>
            </a:r>
            <a:r>
              <a:rPr lang="en-GB" sz="1100">
                <a:solidFill>
                  <a:schemeClr val="dk2"/>
                </a:solidFill>
              </a:rPr>
              <a:t>extract the singing vocals - public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-GB" sz="1100">
                <a:solidFill>
                  <a:schemeClr val="dk2"/>
                </a:solidFill>
              </a:rPr>
              <a:t>Autoencoder trained with a </a:t>
            </a:r>
            <a:r>
              <a:rPr lang="en-GB" sz="1100">
                <a:solidFill>
                  <a:schemeClr val="dk2"/>
                </a:solidFill>
              </a:rPr>
              <a:t>CTC loss( Connectionist Temporal Classification) and a reconstruction loss.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-GB" sz="1100">
                <a:solidFill>
                  <a:schemeClr val="dk2"/>
                </a:solidFill>
              </a:rPr>
              <a:t>Adds partial phenome-level information.</a:t>
            </a:r>
            <a:endParaRPr sz="1100">
              <a:solidFill>
                <a:schemeClr val="dk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-GB" sz="1100">
                <a:solidFill>
                  <a:schemeClr val="dk2"/>
                </a:solidFill>
              </a:rPr>
              <a:t>masked frame-wise CE loss </a:t>
            </a:r>
            <a:endParaRPr sz="1100">
              <a:solidFill>
                <a:schemeClr val="dk2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-GB" sz="1100">
                <a:solidFill>
                  <a:schemeClr val="dk2"/>
                </a:solidFill>
              </a:rPr>
              <a:t>considers only frames with known phoneme labels.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50" u="sng">
                <a:solidFill>
                  <a:schemeClr val="hlink"/>
                </a:solidFill>
                <a:hlinkClick r:id="rId3"/>
              </a:rPr>
              <a:t>Hybrid Transformer Demucs for MSS, 2023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489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-GB" sz="1100"/>
              <a:t>B</a:t>
            </a:r>
            <a:r>
              <a:rPr lang="en-GB" sz="1100"/>
              <a:t>ased on Hybrid Demucs - </a:t>
            </a:r>
            <a:r>
              <a:rPr lang="en-GB" sz="1100"/>
              <a:t>Hybrid temporal/spectral bi-U-Net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/>
              <a:t>Innermost  convolutional layers layers are replaced by a cross-domain Transformer Encoder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/>
              <a:t>Uses self-attention within one domain, and cross-attention across domains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91" name="Google Shape;91;p18" title="Screenshot 2026-03-18 at 16.47.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2601" y="1194200"/>
            <a:ext cx="2842800" cy="333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creenshot 2026-03-18 at 16.54.1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825" y="2141200"/>
            <a:ext cx="4644775" cy="311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Separate Voice from music </a:t>
            </a:r>
            <a:r>
              <a:rPr lang="en-GB"/>
              <a:t>using HT Demucs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Apply autoencoder trained with a CTC loss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100"/>
              <a:t>Adds partial phenome-level information.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Previous work</a:t>
            </a:r>
            <a:endParaRPr b="1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14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/>
              <a:t>Lyrics-to-Audio Alignment and Lyrics Transcription:</a:t>
            </a:r>
            <a:endParaRPr b="1" sz="1600"/>
          </a:p>
          <a:p>
            <a:pPr indent="-33020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GGL1(2020) - a factorized time-delay neural network (TDNNF) architecture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GGL2(2020) - like GGL1 +  additional convolutional layers (2 convolutional, 10 time-delay layers followed by a rank reduction layer) 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600"/>
              <a:t>Improving Lyrics-to-Audio Alignment (2025)</a:t>
            </a:r>
            <a:endParaRPr b="1" sz="1600"/>
          </a:p>
          <a:p>
            <a:pPr indent="-33020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Using frame-wise phoneme labels with masked cross entropy loss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Trained on top of self-supervised audio representations (wav2vec 2.0)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600"/>
              <a:t>CTC-based Forced Alignment (2022-present)</a:t>
            </a:r>
            <a:endParaRPr b="1" sz="1600"/>
          </a:p>
          <a:p>
            <a:pPr indent="-33020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Whisper + CTC decoder: word-level timestamps via torchaudio forced aligner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Currently dominant approach in production (Spotify, Apple Music)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Possible Approaches</a:t>
            </a:r>
            <a:endParaRPr b="1"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14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/>
              <a:t>1. HMM-based Forced Alignment (classical baseline)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Phoneme-level acoustic model + Viterbi decoding to align text to audio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Well-understood but limited by acoustic model quality on singing voice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600"/>
              <a:t>2. TDNNF Acoustic Models (GGL1 / GGL2)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Time-delay neural networks trained specifically on singing audio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Dataset: DALI + DAMP for training and evaluation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600"/>
              <a:t>3. CTC-based Alignment with Self-Supervised Models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Fine-tune wav2vec 2.0 or Whisper encoder + CTC forced aligner for word timestamps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Modern approach — currently used in production by Spotify and Apple Music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2800350" y="2285400"/>
            <a:ext cx="354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Thank you! Questions?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